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lta" charset="1" panose="02000503000000000000"/>
      <p:regular r:id="rId12"/>
    </p:embeddedFont>
    <p:embeddedFont>
      <p:font typeface="Work Sans Bold" charset="1" panose="00000000000000000000"/>
      <p:regular r:id="rId13"/>
    </p:embeddedFont>
    <p:embeddedFont>
      <p:font typeface="Lancelot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9737" y="0"/>
                  </a:moveTo>
                  <a:lnTo>
                    <a:pt x="4806856" y="0"/>
                  </a:lnTo>
                  <a:cubicBezTo>
                    <a:pt x="4809438" y="0"/>
                    <a:pt x="4811915" y="1026"/>
                    <a:pt x="4813741" y="2852"/>
                  </a:cubicBezTo>
                  <a:cubicBezTo>
                    <a:pt x="4815567" y="4678"/>
                    <a:pt x="4816592" y="7154"/>
                    <a:pt x="4816592" y="9737"/>
                  </a:cubicBezTo>
                  <a:lnTo>
                    <a:pt x="4816592" y="2699597"/>
                  </a:lnTo>
                  <a:cubicBezTo>
                    <a:pt x="4816592" y="2704974"/>
                    <a:pt x="4812233" y="2709333"/>
                    <a:pt x="4806856" y="2709333"/>
                  </a:cubicBezTo>
                  <a:lnTo>
                    <a:pt x="9737" y="2709333"/>
                  </a:lnTo>
                  <a:cubicBezTo>
                    <a:pt x="4359" y="2709333"/>
                    <a:pt x="0" y="2704974"/>
                    <a:pt x="0" y="2699597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solidFill>
              <a:srgbClr val="181818">
                <a:alpha val="8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40543" y="961653"/>
            <a:ext cx="13443123" cy="777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1"/>
              </a:lnSpc>
              <a:spcBef>
                <a:spcPct val="0"/>
              </a:spcBef>
            </a:pPr>
            <a:r>
              <a:rPr lang="en-US" sz="14501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LIBRARY MANAGEMENT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57471" y="7597528"/>
            <a:ext cx="6767440" cy="226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Name-Tanisha Chakrabarti</a:t>
            </a:r>
          </a:p>
          <a:p>
            <a:pPr algn="l">
              <a:lnSpc>
                <a:spcPts val="4529"/>
              </a:lnSpc>
            </a:pPr>
            <a:r>
              <a:rPr lang="en-US" sz="3235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Stream-CSE(IOTCSBT)</a:t>
            </a:r>
          </a:p>
          <a:p>
            <a:pPr algn="l">
              <a:lnSpc>
                <a:spcPts val="4529"/>
              </a:lnSpc>
            </a:pPr>
            <a:r>
              <a:rPr lang="en-US" sz="3235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Year-2nd</a:t>
            </a:r>
          </a:p>
          <a:p>
            <a:pPr algn="l">
              <a:lnSpc>
                <a:spcPts val="452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0208" y="385567"/>
            <a:ext cx="11435824" cy="17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4"/>
              </a:lnSpc>
              <a:spcBef>
                <a:spcPct val="0"/>
              </a:spcBef>
            </a:pPr>
            <a:r>
              <a:rPr lang="en-US" sz="9432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208" y="2651067"/>
            <a:ext cx="15840899" cy="213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55"/>
              </a:lnSpc>
            </a:pPr>
            <a:r>
              <a:rPr lang="en-US" sz="48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LIBRARY MANAGEMENT SYSTEM:</a:t>
            </a:r>
          </a:p>
          <a:p>
            <a:pPr algn="just">
              <a:lnSpc>
                <a:spcPts val="4935"/>
              </a:lnSpc>
              <a:spcBef>
                <a:spcPct val="0"/>
              </a:spcBef>
            </a:pPr>
            <a:r>
              <a:rPr lang="en-US" sz="35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A JAVA-BASED SYSTEM TO MANAGE BOOKS, MEMBERS, ISSUING AND RETURNING OF BOOKS EFFICIENTLY.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0208" y="5333550"/>
            <a:ext cx="15840899" cy="398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55"/>
              </a:lnSpc>
            </a:pPr>
            <a:r>
              <a:rPr lang="en-US" sz="48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TARGET USERS:</a:t>
            </a:r>
          </a:p>
          <a:p>
            <a:pPr algn="just" marL="761080" indent="-380540" lvl="1">
              <a:lnSpc>
                <a:spcPts val="4935"/>
              </a:lnSpc>
              <a:buFont typeface="Arial"/>
              <a:buChar char="•"/>
            </a:pPr>
            <a:r>
              <a:rPr lang="en-US" sz="35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STUDENTS LEARNING</a:t>
            </a:r>
            <a:r>
              <a:rPr lang="en-US" sz="35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JAVA AND OOP CONCEPTS</a:t>
            </a:r>
          </a:p>
          <a:p>
            <a:pPr algn="just" marL="761080" indent="-380540" lvl="1">
              <a:lnSpc>
                <a:spcPts val="4935"/>
              </a:lnSpc>
              <a:buFont typeface="Arial"/>
              <a:buChar char="•"/>
            </a:pPr>
            <a:r>
              <a:rPr lang="en-US" sz="35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BEGINNERS PRACTICING REAL-WORLD PROJECTS</a:t>
            </a:r>
          </a:p>
          <a:p>
            <a:pPr algn="just" marL="761080" indent="-380540" lvl="1">
              <a:lnSpc>
                <a:spcPts val="4935"/>
              </a:lnSpc>
              <a:buFont typeface="Arial"/>
              <a:buChar char="•"/>
            </a:pPr>
            <a:r>
              <a:rPr lang="en-US" sz="35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TEACHERS FOR DEMONSTRATION PURPOSES</a:t>
            </a:r>
          </a:p>
          <a:p>
            <a:pPr algn="just" marL="761080" indent="-380540" lvl="1">
              <a:lnSpc>
                <a:spcPts val="4935"/>
              </a:lnSpc>
              <a:buFont typeface="Arial"/>
              <a:buChar char="•"/>
            </a:pPr>
            <a:r>
              <a:rPr lang="en-US" sz="352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SMALL LIBRARIES FOR BASIC MANAGEMENT</a:t>
            </a:r>
          </a:p>
          <a:p>
            <a:pPr algn="just">
              <a:lnSpc>
                <a:spcPts val="49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2608" y="510936"/>
            <a:ext cx="13394804" cy="157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6"/>
              </a:lnSpc>
              <a:spcBef>
                <a:spcPct val="0"/>
              </a:spcBef>
            </a:pPr>
            <a:r>
              <a:rPr lang="en-US" sz="870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HIGH-LEVEL ARCHITECTURE: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2608" y="2472642"/>
            <a:ext cx="12302756" cy="117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6"/>
              </a:lnSpc>
            </a:pPr>
            <a:r>
              <a:rPr lang="en-US" sz="374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LAYERED STRUC</a:t>
            </a:r>
            <a:r>
              <a:rPr lang="en-US" sz="374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TURE (SIMPLE):</a:t>
            </a:r>
          </a:p>
          <a:p>
            <a:pPr algn="just">
              <a:lnSpc>
                <a:spcPts val="3832"/>
              </a:lnSpc>
              <a:spcBef>
                <a:spcPct val="0"/>
              </a:spcBef>
            </a:pPr>
            <a:r>
              <a:rPr lang="en-US" sz="273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PRESENTATION → LOGIC →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2608" y="4051249"/>
            <a:ext cx="13394804" cy="374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60"/>
              </a:lnSpc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KEY CLASSES &amp; RESPONSIBILITIES:</a:t>
            </a:r>
          </a:p>
          <a:p>
            <a:pPr algn="just" marL="789707" indent="-394853" lvl="1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MAIN – HANDLES USER INTERFACE (MEN</a:t>
            </a:r>
            <a:r>
              <a:rPr lang="en-US" sz="36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U-DRIVEN SYSTEM)</a:t>
            </a:r>
          </a:p>
          <a:p>
            <a:pPr algn="just" marL="789707" indent="-394853" lvl="1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LIBRARY</a:t>
            </a:r>
            <a:r>
              <a:rPr lang="en-US" sz="36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– HANDLES ALL OPERATIONS (CORE LOGIC)</a:t>
            </a:r>
          </a:p>
          <a:p>
            <a:pPr algn="just" marL="789707" indent="-394853" lvl="1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BOOK – STORES BOOK DETAILS</a:t>
            </a:r>
          </a:p>
          <a:p>
            <a:pPr algn="just" marL="789707" indent="-394853" lvl="1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MEMBER – STORES MEMBER DETAILS</a:t>
            </a:r>
          </a:p>
          <a:p>
            <a:pPr algn="just">
              <a:lnSpc>
                <a:spcPts val="374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84338"/>
            <a:ext cx="12302756" cy="183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6"/>
              </a:lnSpc>
            </a:pPr>
            <a:r>
              <a:rPr lang="en-US" sz="374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Package Struc</a:t>
            </a:r>
            <a:r>
              <a:rPr lang="en-US" sz="374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ture:</a:t>
            </a:r>
          </a:p>
          <a:p>
            <a:pPr algn="just">
              <a:lnSpc>
                <a:spcPts val="5246"/>
              </a:lnSpc>
            </a:pPr>
            <a:r>
              <a:rPr lang="en-US" sz="3747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com.library.main</a:t>
            </a:r>
          </a:p>
          <a:p>
            <a:pPr algn="just">
              <a:lnSpc>
                <a:spcPts val="38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5008" y="1023799"/>
            <a:ext cx="13394804" cy="157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6"/>
              </a:lnSpc>
              <a:spcBef>
                <a:spcPct val="0"/>
              </a:spcBef>
            </a:pPr>
            <a:r>
              <a:rPr lang="en-US" sz="870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OBJECT ORIENTED CONCEPTS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46271"/>
            <a:ext cx="13394804" cy="582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ENCAPSULATION:</a:t>
            </a:r>
          </a:p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PRIVATE V</a:t>
            </a: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ARIABLES IN BOOK &amp; MEMBER WITH GETTERS/SETTE</a:t>
            </a: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RS</a:t>
            </a:r>
          </a:p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ABSTRACTION:</a:t>
            </a:r>
          </a:p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</a:t>
            </a: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LIBRARY</a:t>
            </a: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CLASS HIDES INTERNAL LOGIC FROM MAIN</a:t>
            </a:r>
          </a:p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INHERITANCE:</a:t>
            </a:r>
          </a:p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(CAN BE EXTENDED FOR EXCEPTIONS IF ADDED)</a:t>
            </a:r>
          </a:p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POLYMORPHISM:</a:t>
            </a:r>
          </a:p>
          <a:p>
            <a:pPr algn="just" marL="811298" indent="-405649" lvl="1">
              <a:lnSpc>
                <a:spcPts val="5260"/>
              </a:lnSpc>
              <a:buFont typeface="Arial"/>
              <a:buChar char="•"/>
            </a:pP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</a:t>
            </a:r>
            <a:r>
              <a:rPr lang="en-US" sz="3757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METHOD FLEXIBILITY IN HANDLING DIFFERENT OPERATIONS</a:t>
            </a:r>
          </a:p>
          <a:p>
            <a:pPr algn="just">
              <a:lnSpc>
                <a:spcPts val="37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81050"/>
            <a:ext cx="13394804" cy="157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6"/>
              </a:lnSpc>
              <a:spcBef>
                <a:spcPct val="0"/>
              </a:spcBef>
            </a:pPr>
            <a:r>
              <a:rPr lang="en-US" sz="870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TECHNICAL HIGHLIGHTS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2012" y="2670579"/>
            <a:ext cx="10745104" cy="378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20"/>
              </a:lnSpc>
            </a:pPr>
            <a:r>
              <a:rPr lang="en-US" sz="4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KEY FEATURES: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ADD /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UPDATE / DE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LETE BOOKS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SE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ARCH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BY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TITLE, AUTHOR, ID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ISSUE AND RETURN BOOKS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MEMBER MANAGEMENT SYSTEM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LIBRARY STATISTICS DASHBOARD</a:t>
            </a:r>
          </a:p>
          <a:p>
            <a:pPr algn="just">
              <a:lnSpc>
                <a:spcPts val="3001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2012" y="6345222"/>
            <a:ext cx="10745104" cy="255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20"/>
              </a:lnSpc>
            </a:pPr>
            <a:r>
              <a:rPr lang="en-US" sz="4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WHY CHOSEN: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S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IMPLE AND USER-FRIENDLY DESIGN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D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EMONSTRATES REAL-WORLD SYSTEM</a:t>
            </a:r>
          </a:p>
          <a:p>
            <a:pPr algn="just" marL="650811" indent="-325405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E</a:t>
            </a:r>
            <a:r>
              <a:rPr lang="en-US" sz="301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ASY TO SCALE AND IMPROVE</a:t>
            </a:r>
          </a:p>
          <a:p>
            <a:pPr algn="just">
              <a:lnSpc>
                <a:spcPts val="16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8828" y="489803"/>
            <a:ext cx="13394804" cy="157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6"/>
              </a:lnSpc>
              <a:spcBef>
                <a:spcPct val="0"/>
              </a:spcBef>
            </a:pPr>
            <a:r>
              <a:rPr lang="en-US" sz="8704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LIVE DEMONSTRATION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8828" y="1978755"/>
            <a:ext cx="10001854" cy="403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31"/>
              </a:lnSpc>
            </a:pPr>
            <a:r>
              <a:rPr lang="en-US" sz="3736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SCENARIO:</a:t>
            </a:r>
          </a:p>
          <a:p>
            <a:pPr algn="just" marL="605793" indent="-302897" lvl="1">
              <a:lnSpc>
                <a:spcPts val="3928"/>
              </a:lnSpc>
              <a:buFont typeface="Arial"/>
              <a:buChar char="•"/>
            </a:pP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ADD N</a:t>
            </a: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EW BOOKS TO</a:t>
            </a: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LI</a:t>
            </a: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BRARY</a:t>
            </a:r>
          </a:p>
          <a:p>
            <a:pPr algn="just" marL="605793" indent="-302897" lvl="1">
              <a:lnSpc>
                <a:spcPts val="3928"/>
              </a:lnSpc>
              <a:buFont typeface="Arial"/>
              <a:buChar char="•"/>
            </a:pP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REGISTER A NEW MEMBER</a:t>
            </a:r>
          </a:p>
          <a:p>
            <a:pPr algn="just" marL="605793" indent="-302897" lvl="1">
              <a:lnSpc>
                <a:spcPts val="3928"/>
              </a:lnSpc>
              <a:buFont typeface="Arial"/>
              <a:buChar char="•"/>
            </a:pP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ISSUE A BOOK</a:t>
            </a:r>
          </a:p>
          <a:p>
            <a:pPr algn="just" marL="605793" indent="-302897" lvl="1">
              <a:lnSpc>
                <a:spcPts val="3928"/>
              </a:lnSpc>
              <a:buFont typeface="Arial"/>
              <a:buChar char="•"/>
            </a:pP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RETURN A BOOK</a:t>
            </a:r>
          </a:p>
          <a:p>
            <a:pPr algn="just" marL="605793" indent="-302897" lvl="1">
              <a:lnSpc>
                <a:spcPts val="3928"/>
              </a:lnSpc>
              <a:buFont typeface="Arial"/>
              <a:buChar char="•"/>
            </a:pP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S</a:t>
            </a: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EARCH FOR BOOKS</a:t>
            </a:r>
          </a:p>
          <a:p>
            <a:pPr algn="just" marL="605793" indent="-302897" lvl="1">
              <a:lnSpc>
                <a:spcPts val="3928"/>
              </a:lnSpc>
              <a:buFont typeface="Arial"/>
              <a:buChar char="•"/>
            </a:pP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V</a:t>
            </a:r>
            <a:r>
              <a:rPr lang="en-US" sz="280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IEW STATISTICS</a:t>
            </a:r>
          </a:p>
          <a:p>
            <a:pPr algn="just">
              <a:lnSpc>
                <a:spcPts val="2793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614752" y="5038725"/>
            <a:ext cx="10813683" cy="442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3"/>
              </a:lnSpc>
            </a:pPr>
            <a:r>
              <a:rPr lang="en-US" sz="3309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ERROR HANDLING: HANDLES INVALID INPUTS LIKE WRONG ID, ISSUING UNAVAILABLE BOOKS, OR RETURNING NON-ISSUED BOOKS.</a:t>
            </a:r>
          </a:p>
          <a:p>
            <a:pPr algn="just">
              <a:lnSpc>
                <a:spcPts val="4611"/>
              </a:lnSpc>
            </a:pPr>
            <a:r>
              <a:rPr lang="en-US" sz="3293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GOAL:</a:t>
            </a:r>
          </a:p>
          <a:p>
            <a:pPr algn="just">
              <a:lnSpc>
                <a:spcPts val="4213"/>
              </a:lnSpc>
            </a:pPr>
            <a:r>
              <a:rPr lang="en-US" sz="3009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 TO DEMONSTRATE A FULLY WORKING LIBRARY SYSTEM WITH REAL-TIME INTERACTION</a:t>
            </a:r>
          </a:p>
          <a:p>
            <a:pPr algn="just">
              <a:lnSpc>
                <a:spcPts val="4611"/>
              </a:lnSpc>
              <a:spcBef>
                <a:spcPct val="0"/>
              </a:spcBef>
            </a:pPr>
          </a:p>
          <a:p>
            <a:pPr algn="just">
              <a:lnSpc>
                <a:spcPts val="33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DAHFTFfJYLQ</dc:identifier>
  <dcterms:modified xsi:type="dcterms:W3CDTF">2011-08-01T06:04:30Z</dcterms:modified>
  <cp:revision>1</cp:revision>
  <dc:title>Library Management syatem</dc:title>
</cp:coreProperties>
</file>